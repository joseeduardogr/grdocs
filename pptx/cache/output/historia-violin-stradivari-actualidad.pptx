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91640"/>
            <a:ext cx="9144000" cy="1828800"/>
          </a:xfrm>
          <a:prstGeom prst="rect">
            <a:avLst/>
          </a:prstGeom>
          <a:solidFill>
            <a:srgbClr val="2D081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6916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483864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4425696" y="1609344"/>
            <a:ext cx="274320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55648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D4AF37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 del Violín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Stradivari a la Actualidad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3310128"/>
            <a:ext cx="2743200" cy="27432"/>
          </a:xfrm>
          <a:prstGeom prst="rect">
            <a:avLst/>
          </a:prstGeom>
          <a:solidFill>
            <a:srgbClr val="D8CC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violín es el corazón del alma orquestal"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Académica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por los siglos de historia del violín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8872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12801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3272" y="126187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— ¿Qué es el violín?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18872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18872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2801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48072" y="126187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 históricos · Siglo XVI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192024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192024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" y="20116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3272" y="199339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era dorada — Antonio Stradivari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192024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192024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20116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48072" y="199339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violín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265176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65176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" y="27432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3272" y="272491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construcción tradicionales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265176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26280" y="265176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0" name="Text 28"/>
          <p:cNvSpPr/>
          <p:nvPr/>
        </p:nvSpPr>
        <p:spPr>
          <a:xfrm>
            <a:off x="4654296" y="27432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48072" y="272491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violinistas de la historia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338328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38328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" y="34747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33272" y="345643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violín en diferentes géneros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26280" y="338328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26280" y="3383280"/>
            <a:ext cx="64008" cy="56692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8" name="Text 36"/>
          <p:cNvSpPr/>
          <p:nvPr/>
        </p:nvSpPr>
        <p:spPr>
          <a:xfrm>
            <a:off x="4654296" y="34747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148072" y="345643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Violín moderno vs. barroco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Violín?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rey de los instrumentos de cuerda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937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298448"/>
            <a:ext cx="466344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violín es un instrumento musical de cuerda frotada con arco, compuesto por cuatro cuerdas afinadas en quintas: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 · Re · La · Mi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instrumento de tessitura más aguda dentro de la familia de las cuerdas de la orquesta sinfónica, conformada también por la viola, el violonchelo y el contrabajo.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dimensiones oscilan entre 59 y 60 cm de longitud total. Su caja de resonancia, cuidadosamente tallada en madera de arce y abeto, es la responsable de amplificar y dar color al sonido.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Curiosidades clave: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Cuerdas afinadas en quintas perfectas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sonoro de más de 4 octavas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70 piezas de madera en su construcción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arco usa crines de cola de caballo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170432"/>
            <a:ext cx="3154680" cy="566928"/>
          </a:xfrm>
          <a:prstGeom prst="rect">
            <a:avLst/>
          </a:prstGeom>
          <a:solidFill>
            <a:srgbClr val="6B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87568" y="1207008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120700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Italia, ~1550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847088"/>
            <a:ext cx="3154680" cy="566928"/>
          </a:xfrm>
          <a:prstGeom prst="rect">
            <a:avLst/>
          </a:prstGeom>
          <a:solidFill>
            <a:srgbClr val="8B1A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87568" y="1883664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188366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Cuerda frotada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523744"/>
            <a:ext cx="3154680" cy="566928"/>
          </a:xfrm>
          <a:prstGeom prst="rect">
            <a:avLst/>
          </a:prstGeom>
          <a:solidFill>
            <a:srgbClr val="6B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87568" y="2560320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256032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(Sol·Re·La·Mi)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3200400"/>
            <a:ext cx="3154680" cy="566928"/>
          </a:xfrm>
          <a:prstGeom prst="rect">
            <a:avLst/>
          </a:prstGeom>
          <a:solidFill>
            <a:srgbClr val="8B1A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87568" y="3236976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Madera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9440" y="323697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Abeto &amp; Arce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3877056"/>
            <a:ext cx="3154680" cy="566928"/>
          </a:xfrm>
          <a:prstGeom prst="rect">
            <a:avLst/>
          </a:prstGeom>
          <a:solidFill>
            <a:srgbClr val="6B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87568" y="3913632"/>
            <a:ext cx="1188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aprox.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391363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400–500 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Orígenes Históricos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nacimiento del violín en el Renacimiento italiano · Siglo XVI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2450592"/>
            <a:ext cx="329184" cy="32918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0" y="2852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~1520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-137160" y="1234440"/>
            <a:ext cx="1280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-91440" y="128016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rebecas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vihuelas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en Italia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" y="2377440"/>
            <a:ext cx="18288" cy="91440"/>
          </a:xfrm>
          <a:prstGeom prst="rect">
            <a:avLst/>
          </a:prstGeom>
          <a:solidFill>
            <a:srgbClr val="D8CCC0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2868" y="2450592"/>
            <a:ext cx="329184" cy="32918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34540" y="2852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~1550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7380" y="3200400"/>
            <a:ext cx="1280160" cy="1143000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43100" y="324612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Amati crea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violín moderno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07408" y="2450592"/>
            <a:ext cx="329184" cy="32918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69080" y="2852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234440"/>
            <a:ext cx="1280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77640" y="128016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violines para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IX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62856" y="2377440"/>
            <a:ext cx="18288" cy="91440"/>
          </a:xfrm>
          <a:prstGeom prst="rect">
            <a:avLst/>
          </a:prstGeom>
          <a:solidFill>
            <a:srgbClr val="D8CCC0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1948" y="2450592"/>
            <a:ext cx="329184" cy="32918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03620" y="2852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66460" y="3200400"/>
            <a:ext cx="1280160" cy="1143000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12180" y="324612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Gasparo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Salò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perfecciona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76488" y="2450592"/>
            <a:ext cx="329184" cy="32918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38160" y="2852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~1620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1234440"/>
            <a:ext cx="1280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0" y="128016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P.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Maggini eleva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luthería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cremanese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31936" y="2377440"/>
            <a:ext cx="18288" cy="91440"/>
          </a:xfrm>
          <a:prstGeom prst="rect">
            <a:avLst/>
          </a:prstGeom>
          <a:solidFill>
            <a:srgbClr val="D8CCC0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462272"/>
            <a:ext cx="8321040" cy="347472"/>
          </a:xfrm>
          <a:prstGeom prst="rect">
            <a:avLst/>
          </a:prstGeom>
          <a:solidFill>
            <a:srgbClr val="F0E8D8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epicentro de la luthería: Cremona (Italia), ciudad que vio nacer las tres familias maestras — Amati, Guarneri y Stradivari.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0810"/>
          </a:solidFill>
          <a:ln/>
        </p:spPr>
      </p:sp>
      <p:sp>
        <p:nvSpPr>
          <p:cNvPr id="6" name="Shape 4"/>
          <p:cNvSpPr/>
          <p:nvPr/>
        </p:nvSpPr>
        <p:spPr>
          <a:xfrm>
            <a:off x="3785616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502920"/>
            <a:ext cx="347472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D4AF37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STRADIVARI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1664208"/>
            <a:ext cx="237744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1644 – 1737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Cremona, Italia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487168"/>
            <a:ext cx="3383280" cy="457200"/>
          </a:xfrm>
          <a:prstGeom prst="rect">
            <a:avLst/>
          </a:prstGeom>
          <a:solidFill>
            <a:srgbClr val="3A0E18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487168"/>
            <a:ext cx="54864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creados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5420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~1,100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035808"/>
            <a:ext cx="3383280" cy="457200"/>
          </a:xfrm>
          <a:prstGeom prst="rect">
            <a:avLst/>
          </a:prstGeom>
          <a:solidFill>
            <a:srgbClr val="3A0E18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3035808"/>
            <a:ext cx="54864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Supervivientes hoy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30906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~650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584448"/>
            <a:ext cx="3383280" cy="457200"/>
          </a:xfrm>
          <a:prstGeom prst="rect">
            <a:avLst/>
          </a:prstGeom>
          <a:solidFill>
            <a:srgbClr val="3A0E18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3584448"/>
            <a:ext cx="54864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3639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4133088"/>
            <a:ext cx="3383280" cy="457200"/>
          </a:xfrm>
          <a:prstGeom prst="rect">
            <a:avLst/>
          </a:prstGeom>
          <a:solidFill>
            <a:srgbClr val="3A0E18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4133088"/>
            <a:ext cx="54864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1879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estimado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86000" y="4187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&gt;$10M c/u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237744"/>
            <a:ext cx="25603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31089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Era Dorada del Violín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77640" y="86868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periodo de máxima producción de Stradivari, conocido como su "Periodo de Oro" (1700–1720), marcó el culmen de la luthería occidental.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secreto jamás revelado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barniz de los Stradivarius — de tonalidad rojiza intensa — sigue siendo objeto de estudio científico. Hipótesis modernas sugieren un tratamiento especial de la madera con minerales o sales de potasio.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"Mesías" de 1716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Considerado el Stradivarius mejor conservado de la historia, es uno de los pocos que jamás ha sido tocado en público. Hoy reside en el Ashmolean Museum de Oxford.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Legado vivo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 como Itzhak Perlman, Hilary Hahn y Anne-Sophie Mutter han tocado Stradivarius. Ninguna tecnología moderna ha logrado replicar su timbre inigualable.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del Violín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partes principales y su función acústica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600200"/>
            <a:ext cx="1371600" cy="2560320"/>
          </a:xfrm>
          <a:prstGeom prst="roundRect">
            <a:avLst>
              <a:gd name="adj" fmla="val 12000"/>
            </a:avLst>
          </a:prstGeom>
          <a:solidFill>
            <a:srgbClr val="6B0F1A"/>
          </a:solidFill>
          <a:ln w="12700">
            <a:solidFill>
              <a:srgbClr val="C94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48256" y="2468880"/>
            <a:ext cx="109728" cy="365760"/>
          </a:xfrm>
          <a:prstGeom prst="ellipse">
            <a:avLst/>
          </a:prstGeom>
          <a:solidFill>
            <a:srgbClr val="1A0A0D"/>
          </a:solidFill>
          <a:ln/>
        </p:spPr>
      </p:sp>
      <p:sp>
        <p:nvSpPr>
          <p:cNvPr id="10" name="Shape 8"/>
          <p:cNvSpPr/>
          <p:nvPr/>
        </p:nvSpPr>
        <p:spPr>
          <a:xfrm>
            <a:off x="3054096" y="2468880"/>
            <a:ext cx="109728" cy="365760"/>
          </a:xfrm>
          <a:prstGeom prst="ellipse">
            <a:avLst/>
          </a:prstGeom>
          <a:solidFill>
            <a:srgbClr val="1A0A0D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2670048"/>
            <a:ext cx="4572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0864" y="1170432"/>
            <a:ext cx="530352" cy="475488"/>
          </a:xfrm>
          <a:prstGeom prst="rect">
            <a:avLst/>
          </a:prstGeom>
          <a:solidFill>
            <a:srgbClr val="8B1A2A"/>
          </a:solidFill>
          <a:ln/>
        </p:spPr>
      </p:sp>
      <p:sp>
        <p:nvSpPr>
          <p:cNvPr id="13" name="Shape 11"/>
          <p:cNvSpPr/>
          <p:nvPr/>
        </p:nvSpPr>
        <p:spPr>
          <a:xfrm>
            <a:off x="2414016" y="1097280"/>
            <a:ext cx="384048" cy="201168"/>
          </a:xfrm>
          <a:prstGeom prst="ellipse">
            <a:avLst/>
          </a:prstGeom>
          <a:solidFill>
            <a:srgbClr val="C9404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1188720"/>
            <a:ext cx="73152" cy="2194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2404872" y="1188720"/>
            <a:ext cx="73152" cy="2194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Shape 14"/>
          <p:cNvSpPr/>
          <p:nvPr/>
        </p:nvSpPr>
        <p:spPr>
          <a:xfrm>
            <a:off x="2523744" y="1188720"/>
            <a:ext cx="73152" cy="2194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2616" y="1188720"/>
            <a:ext cx="73152" cy="2194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Shape 16"/>
          <p:cNvSpPr/>
          <p:nvPr/>
        </p:nvSpPr>
        <p:spPr>
          <a:xfrm>
            <a:off x="2386584" y="1371600"/>
            <a:ext cx="18288" cy="2743200"/>
          </a:xfrm>
          <a:prstGeom prst="rect">
            <a:avLst/>
          </a:prstGeom>
          <a:solidFill>
            <a:srgbClr val="F0D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2468880" y="1371600"/>
            <a:ext cx="18288" cy="2743200"/>
          </a:xfrm>
          <a:prstGeom prst="rect">
            <a:avLst/>
          </a:prstGeom>
          <a:solidFill>
            <a:srgbClr val="F0D06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51176" y="1371600"/>
            <a:ext cx="18288" cy="2743200"/>
          </a:xfrm>
          <a:prstGeom prst="rect">
            <a:avLst/>
          </a:prstGeom>
          <a:solidFill>
            <a:srgbClr val="F0D060"/>
          </a:solidFill>
          <a:ln/>
        </p:spPr>
      </p:sp>
      <p:sp>
        <p:nvSpPr>
          <p:cNvPr id="21" name="Shape 19"/>
          <p:cNvSpPr/>
          <p:nvPr/>
        </p:nvSpPr>
        <p:spPr>
          <a:xfrm>
            <a:off x="2633472" y="1371600"/>
            <a:ext cx="18288" cy="2743200"/>
          </a:xfrm>
          <a:prstGeom prst="rect">
            <a:avLst/>
          </a:prstGeom>
          <a:solidFill>
            <a:srgbClr val="F0D060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0864" y="4005072"/>
            <a:ext cx="530352" cy="182880"/>
          </a:xfrm>
          <a:prstGeom prst="rect">
            <a:avLst/>
          </a:prstGeom>
          <a:solidFill>
            <a:srgbClr val="8B1A2A"/>
          </a:solidFill>
          <a:ln/>
        </p:spPr>
      </p:sp>
      <p:sp>
        <p:nvSpPr>
          <p:cNvPr id="23" name="Shape 21"/>
          <p:cNvSpPr/>
          <p:nvPr/>
        </p:nvSpPr>
        <p:spPr>
          <a:xfrm>
            <a:off x="2523744" y="4169664"/>
            <a:ext cx="164592" cy="164592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1225296"/>
            <a:ext cx="1042416" cy="1828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31136" y="1188720"/>
            <a:ext cx="91440" cy="91440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115214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Voluta / Clavijero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61872" y="1792224"/>
            <a:ext cx="1042416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Shape 26"/>
          <p:cNvSpPr/>
          <p:nvPr/>
        </p:nvSpPr>
        <p:spPr>
          <a:xfrm>
            <a:off x="2231136" y="1755648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17190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Diapasón (ébano)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261872" y="2340864"/>
            <a:ext cx="1042416" cy="1828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1" name="Shape 29"/>
          <p:cNvSpPr/>
          <p:nvPr/>
        </p:nvSpPr>
        <p:spPr>
          <a:xfrm>
            <a:off x="2231136" y="2304288"/>
            <a:ext cx="91440" cy="91440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22677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 armónica (abeto)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61872" y="2633472"/>
            <a:ext cx="1042416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Shape 32"/>
          <p:cNvSpPr/>
          <p:nvPr/>
        </p:nvSpPr>
        <p:spPr>
          <a:xfrm>
            <a:off x="2231136" y="2596896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25603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(f-holes)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61872" y="2953512"/>
            <a:ext cx="1042416" cy="1828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7" name="Shape 35"/>
          <p:cNvSpPr/>
          <p:nvPr/>
        </p:nvSpPr>
        <p:spPr>
          <a:xfrm>
            <a:off x="2231136" y="2916936"/>
            <a:ext cx="91440" cy="91440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2880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(arce)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61872" y="3547872"/>
            <a:ext cx="1042416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Shape 38"/>
          <p:cNvSpPr/>
          <p:nvPr/>
        </p:nvSpPr>
        <p:spPr>
          <a:xfrm>
            <a:off x="2231136" y="3511296"/>
            <a:ext cx="91440" cy="914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1" name="Text 39"/>
          <p:cNvSpPr/>
          <p:nvPr/>
        </p:nvSpPr>
        <p:spPr>
          <a:xfrm>
            <a:off x="182880" y="34747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Cordal (ébano)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61872" y="3959352"/>
            <a:ext cx="1042416" cy="1828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3" name="Shape 41"/>
          <p:cNvSpPr/>
          <p:nvPr/>
        </p:nvSpPr>
        <p:spPr>
          <a:xfrm>
            <a:off x="2231136" y="3922776"/>
            <a:ext cx="91440" cy="91440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" y="38862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111556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2040" y="11887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Materiales &amp; Función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92040" y="1517904"/>
            <a:ext cx="36576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1600200"/>
            <a:ext cx="3703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Tapa: Abeto europeo (Picea excelsa)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 por su densidad uniforme y elasticidad para la transmisión de vibraciones.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y aros: Arce ondulado (Acer platanoides)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veta flameada aporta belleza visual y rigidez estructural.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y barra armónica (internas)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alma de abeto transmite las vibraciones del puente al fondo. La barra armónica refuerza la tapa bajo la cuerda Sol.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Barniz: El gran misterio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protege la madera — afecta directamente el timbre y la resonancia. Los ingredientes exactos del barniz de Stradivari permanecen desconocidos.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Técnicas de Construcción Tradicionales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artesanal de más de 200 horas de trabajo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16736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33502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 de la madera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madera se seca al aire libre durante 10–20 años. Solo el 5% de los árboles cortados supera los estrictos criterios del luthier.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1207008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316736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33502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Tallado de la tapa y fondo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18688" y="1737360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gubias y cepillos especiales, el luthier excava la madera hasta lograr un grosor variable entre 2 y 5 mm según la zona.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70448" y="1207008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0176" y="1316736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20" name="Text 18"/>
          <p:cNvSpPr/>
          <p:nvPr/>
        </p:nvSpPr>
        <p:spPr>
          <a:xfrm>
            <a:off x="5980176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133502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Doblado de los aros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80176" y="1737360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aros de arce se calientan sobre un hierro curvo hasta alcanzar la forma característica de la cintura del violín sin romperse.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889504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01752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Encolado y montaje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19856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cola de piel de conejo. Esta cola, reversible con calor, permite desmontajes para reparaciones futuras sin dañar la madera.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2889504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999232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30" name="Text 28"/>
          <p:cNvSpPr/>
          <p:nvPr/>
        </p:nvSpPr>
        <p:spPr>
          <a:xfrm>
            <a:off x="3218688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01752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 del alma y barra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18688" y="3419856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alma se coloca con un compás especial a través del f-hole. Su posición exacta altera dramáticamente el sonido del instrumento.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70448" y="2889504"/>
            <a:ext cx="25603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80176" y="2999232"/>
            <a:ext cx="384048" cy="384048"/>
          </a:xfrm>
          <a:prstGeom prst="ellipse">
            <a:avLst/>
          </a:prstGeom>
          <a:solidFill>
            <a:srgbClr val="6B0F1A"/>
          </a:solidFill>
          <a:ln/>
        </p:spPr>
      </p:sp>
      <p:sp>
        <p:nvSpPr>
          <p:cNvPr id="35" name="Text 33"/>
          <p:cNvSpPr/>
          <p:nvPr/>
        </p:nvSpPr>
        <p:spPr>
          <a:xfrm>
            <a:off x="5980176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19088" y="301752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Barnizado a mano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80176" y="3419856"/>
            <a:ext cx="23408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capas de barniz, cada una pulida. El luthier utiliza aceites, resinas y pigmentos naturales en una fórmula personal e intransferible.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617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luthier experimentado tarda entre 200 y 300 horas en construir un solo violín de concierto.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Grandes Violinistas de la Historia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legado de virtuosismo a través de los siglos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35424" y="1115568"/>
            <a:ext cx="54864" cy="3474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4443984" y="1389888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1408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XVIII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17043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170432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1225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Arcangelo Corelli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" y="14447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1653–1713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093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 del violín barroco. Definió la técnica del arco y la ornamentación.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2139696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15798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XVIII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56048" y="1920240"/>
            <a:ext cx="4023360" cy="658368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15400" y="1920240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0" name="Text 18"/>
          <p:cNvSpPr/>
          <p:nvPr/>
        </p:nvSpPr>
        <p:spPr>
          <a:xfrm>
            <a:off x="5084064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Giuseppe Tartini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4064" y="2194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1692–1770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84064" y="23591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Compuso el "Trino del Diablo", aún hoy considerado una de las piezas más difíciles.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43984" y="2889504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33088" y="29077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XIX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6700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70048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" y="2724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Niccolò Paganini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" y="29443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1782–1840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1089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sobrehumana. Inventó nuevos recursos: pizzicato, armónicos, scordatura.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43984" y="3639312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657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XIX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56048" y="3419856"/>
            <a:ext cx="4023360" cy="658368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915400" y="3419856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4" name="Text 32"/>
          <p:cNvSpPr/>
          <p:nvPr/>
        </p:nvSpPr>
        <p:spPr>
          <a:xfrm>
            <a:off x="5084064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Joachim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84064" y="369417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1831–1907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84064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de Brahms y Beethoven. Fundador de la escuela alemana moderna.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43984" y="4389120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33088" y="44074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XX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16966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4169664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" y="4224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Jascha Heifetz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" y="44439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1901–1987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" y="46085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Considerado por muchos el mayor violinista del siglo XX. Técnica perfecta.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43984" y="5138928"/>
            <a:ext cx="237744" cy="237744"/>
          </a:xfrm>
          <a:prstGeom prst="ellipse">
            <a:avLst/>
          </a:prstGeom>
          <a:solidFill>
            <a:srgbClr val="6B0F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515721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XX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56048" y="4919472"/>
            <a:ext cx="4023360" cy="658368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915400" y="4919472"/>
            <a:ext cx="64008" cy="658368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8" name="Text 46"/>
          <p:cNvSpPr/>
          <p:nvPr/>
        </p:nvSpPr>
        <p:spPr>
          <a:xfrm>
            <a:off x="5084064" y="4974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Itzhak Perlman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84064" y="51937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84064" y="5358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viviente. Combina virtuosismo con una musicalidad profundamente emotiva.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Violín en Diferentes Géneros Musicales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Versatilidad que trasciende épocas y culturas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103120"/>
                <a:gridCol w="173736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Género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Técnica principal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Referente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Afinación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F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Música Clásica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Melodía principal / tutti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Arco, vibrato, pizzicato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Heifetz, Perlman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Música Barroca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Basso continuo / solista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barbilla, arco barroco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Corelli, Vivaldi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Scordatura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Jazz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Improvisación solista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Swing, blues scales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Stéphane Grappelli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Folk / Celtic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Melodía / danza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Drones, ornamentos, dobles cuerdas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Violin "fiddle"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GDAE / alt.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/ Indie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Textura / solista amplificado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Amplificado, efectos, distorsión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Yellowcard, Arcade Fire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Flamenco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Armonía y contramelodia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Rasgueado arco, ornam. flamencos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 Malikian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Violín Moderno vs. Violín Barroco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mundos sonoros, una misma alma de madera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17136" y="1115568"/>
            <a:ext cx="109728" cy="3566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115568"/>
            <a:ext cx="4078224" cy="475488"/>
          </a:xfrm>
          <a:prstGeom prst="rect">
            <a:avLst/>
          </a:prstGeom>
          <a:solidFill>
            <a:srgbClr val="6B0F1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15568"/>
            <a:ext cx="4078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VIOLÍN MODERNO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0016" y="1115568"/>
            <a:ext cx="4078224" cy="475488"/>
          </a:xfrm>
          <a:prstGeom prst="rect">
            <a:avLst/>
          </a:prstGeom>
          <a:solidFill>
            <a:srgbClr val="8B1A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1115568"/>
            <a:ext cx="4078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VIOLÍN BARROCO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664208"/>
            <a:ext cx="4078224" cy="438912"/>
          </a:xfrm>
          <a:prstGeom prst="rect">
            <a:avLst/>
          </a:prstGeom>
          <a:solidFill>
            <a:srgbClr val="F0E8D8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755648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755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Cuerdas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728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Metálicas o sintéticas (Dominant, Evah Pirazzi)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91456" y="1728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 animal (gut) sin enrollar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4078224" cy="438912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2103120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194560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2194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21671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de Tourte: palo recto, presión constante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91456" y="21671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 convexo, más ligero, articulación natural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542032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2542032"/>
            <a:ext cx="4078224" cy="438912"/>
          </a:xfrm>
          <a:prstGeom prst="rect">
            <a:avLst/>
          </a:prstGeom>
          <a:solidFill>
            <a:srgbClr val="F0E8D8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2633472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2633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Barbilla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6060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permite vibrato amplificado y presión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26060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el violín reposa sobre el hombro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2980944"/>
            <a:ext cx="4078224" cy="438912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0016" y="2980944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72384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30723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Diapasón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30449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Ébano, más largo e inclinado hacia el puente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30449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Madera clara, más corto, sin inclinación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419856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3419856"/>
            <a:ext cx="4078224" cy="438912"/>
          </a:xfrm>
          <a:prstGeom prst="rect">
            <a:avLst/>
          </a:prstGeom>
          <a:solidFill>
            <a:srgbClr val="F0E8D8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0" y="3511296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0" y="35112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34838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tensión: mayor volumen para salas grandes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34838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tensión: timbre más cálido y flexible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858768"/>
            <a:ext cx="4078224" cy="438912"/>
          </a:xfrm>
          <a:prstGeom prst="rect">
            <a:avLst/>
          </a:prstGeom>
          <a:solidFill>
            <a:srgbClr val="F5F0EB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0016" y="3858768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0" y="3950208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0" y="39502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Afinación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39227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A=440 Hz (estándar moderno)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91456" y="39227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A=415 Hz (un semitono más bajo)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297680"/>
            <a:ext cx="40782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0016" y="4297680"/>
            <a:ext cx="4078224" cy="438912"/>
          </a:xfrm>
          <a:prstGeom prst="rect">
            <a:avLst/>
          </a:prstGeom>
          <a:solidFill>
            <a:srgbClr val="F0E8D8"/>
          </a:solidFill>
          <a:ln w="12700">
            <a:solidFill>
              <a:srgbClr val="D8CC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0" y="4389120"/>
            <a:ext cx="91440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0" y="4389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361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expresivo, integral a la técnica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91456" y="4361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Ornamental, selectivo, no sistemático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6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201168"/>
            <a:ext cx="32004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Curiosidades y Datos Fascinantes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quizás no sabías sobre el rey de los instrumentos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188720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188720"/>
            <a:ext cx="2578608" cy="420624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2435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124358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violín más caro del mundo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664208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"Lady Blunt" de Stradivari (1721) se subastó en 2011 por 15,9 millones de dólares. Su dueña original fue la nieta de Lord Byron.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45536" y="1188720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1188720"/>
            <a:ext cx="2578608" cy="420624"/>
          </a:xfrm>
          <a:prstGeom prst="rect">
            <a:avLst/>
          </a:prstGeom>
          <a:solidFill>
            <a:srgbClr val="8B1A2A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264" y="12435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124358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de 70 piezas de madera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55264" y="1664208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violín completo está compuesto por entre 70 y 85 piezas individuales de madera, ensambladas exclusivamente con cola de piel animal.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07024" y="1188720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07024" y="1188720"/>
            <a:ext cx="2578608" cy="420624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12435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1243584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Stradivarius que nunca fue tocado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6752" y="1664208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"Mesías" (1716) está en perfecto estado porque rara vez ha sido tocado. Tiene más de 300 años y sigue siendo casi nuevo.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889504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889504"/>
            <a:ext cx="2578608" cy="420624"/>
          </a:xfrm>
          <a:prstGeom prst="rect">
            <a:avLst/>
          </a:prstGeom>
          <a:solidFill>
            <a:srgbClr val="8B1A2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29443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" y="294436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vs. Stradivarius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364992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estudios de doble ciego, músicos y público entrenado no pudieron distinguir consistentemente un Stradivarius de un violín moderno de alta gama.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45536" y="2889504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45536" y="2889504"/>
            <a:ext cx="2578608" cy="420624"/>
          </a:xfrm>
          <a:prstGeom prst="rect">
            <a:avLst/>
          </a:prstGeom>
          <a:solidFill>
            <a:srgbClr val="6B0F1A"/>
          </a:solidFill>
          <a:ln/>
        </p:spPr>
      </p:sp>
      <p:sp>
        <p:nvSpPr>
          <p:cNvPr id="30" name="Text 28"/>
          <p:cNvSpPr/>
          <p:nvPr/>
        </p:nvSpPr>
        <p:spPr>
          <a:xfrm>
            <a:off x="3255264" y="29443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49040" y="294436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horas de trabajo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55264" y="3364992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luthier experto invierte entre 200 y 300 horas en construir un violín de concierto. Cada barniz se aplica en 20-30 capas sucesivas.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07024" y="2889504"/>
            <a:ext cx="257860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07024" y="2889504"/>
            <a:ext cx="2578608" cy="420624"/>
          </a:xfrm>
          <a:prstGeom prst="rect">
            <a:avLst/>
          </a:prstGeom>
          <a:solidFill>
            <a:srgbClr val="8B1A2A"/>
          </a:solidFill>
          <a:ln/>
        </p:spPr>
      </p:sp>
      <p:sp>
        <p:nvSpPr>
          <p:cNvPr id="35" name="Text 33"/>
          <p:cNvSpPr/>
          <p:nvPr/>
        </p:nvSpPr>
        <p:spPr>
          <a:xfrm>
            <a:off x="6016752" y="29443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♭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10528" y="2944368"/>
            <a:ext cx="18653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diapasón bajó un semitono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3364992"/>
            <a:ext cx="235915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violines barrocos se afinaban a A=415 Hz. La estandarización moderna en A=440 Hz ocurrió en 1939 en la Conferencia Internacional de Londres.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2D081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64592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529584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4407408" y="1554480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4407408" y="3511296"/>
            <a:ext cx="329184" cy="32918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"/>
            <a:ext cx="8229600" cy="129844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D4AF37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 del Violín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Stradivari a la Actualidad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3694176"/>
            <a:ext cx="5486400" cy="804672"/>
          </a:xfrm>
          <a:prstGeom prst="rect">
            <a:avLst/>
          </a:prstGeom>
          <a:solidFill>
            <a:srgbClr val="2D081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C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violín habla donde las palabras callan."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2062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Anónimo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del Violín · De Stradivari a la Actualidad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2026-05-10T21:45:15Z</dcterms:created>
  <dcterms:modified xsi:type="dcterms:W3CDTF">2026-05-10T21:45:15Z</dcterms:modified>
</cp:coreProperties>
</file>